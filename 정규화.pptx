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60789-F95A-20A4-560A-61C3BCC59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39FBDB-5C69-5181-C75E-D2E3E5C02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D5D16A-3672-F871-A0EB-D97D61025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402A7-5993-4C87-8F2A-ABE78CEC1C5E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44AD2D-7A89-4A51-C24C-B7F721D45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D02159-D2AC-D5FF-8551-E97F5CC2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3E9A4-CC80-4D80-B4AD-132E0CA02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8762A-03A0-EA79-FE5B-169CE310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9DA42-5693-11B2-DD2A-7955C391D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F58440-F42D-C74C-6E5C-5036762DD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402A7-5993-4C87-8F2A-ABE78CEC1C5E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7B3DE9-557B-8F8F-942E-4AB490A20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B25D0D-3194-8340-2E81-DF367043A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3E9A4-CC80-4D80-B4AD-132E0CA02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89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DDC7A8-5DB2-FFDA-73F4-DFAFA849A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0ED2E0-4D4C-92EE-5C7A-29F8FE568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7CA43F-035B-8D4F-66AB-D9E95DF34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402A7-5993-4C87-8F2A-ABE78CEC1C5E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A8D65E-C0F1-2E59-0463-3B6EC83B4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0C8BE4-9F1D-07A4-C499-DB243E92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3E9A4-CC80-4D80-B4AD-132E0CA02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217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D8C64D-DC5B-4CE3-AC8C-969B66397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D2E81A-0EB6-28D0-FD6B-406FFCD95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3755D0-3BFE-B274-C3FF-1226BCDCB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49A406-3430-0ADC-8EBB-A682F97EF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402A7-5993-4C87-8F2A-ABE78CEC1C5E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A6CBCE-4B35-4EB8-4050-972292475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8C7004-694D-ED75-FF2F-B74050ADB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3E9A4-CC80-4D80-B4AD-132E0CA02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212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F0DB9D-8F27-D6CD-855F-1831B49EB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FED8E0-032C-5844-F425-129DA5332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DA3930-18DD-5721-7487-C62F72F69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C47E95-9B0F-A5BD-6238-1EC36729F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328E36-7343-CD54-843A-A43A8CF32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13BABC6-09F1-777B-0326-2F196BB44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402A7-5993-4C87-8F2A-ABE78CEC1C5E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17F08ED-0B15-C8A5-53D7-918BBF8E4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DAC83B-6BAB-6F38-58A6-D593BACB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3E9A4-CC80-4D80-B4AD-132E0CA02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940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C0C94-D71E-4C1B-F460-970E9B28D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AF98000-62C1-CDBD-E495-E368B94D3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402A7-5993-4C87-8F2A-ABE78CEC1C5E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4A554C-2F2B-E0CF-A171-26C6706B4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E60941-3ECA-DFB9-4E85-EEF1D1E3E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3E9A4-CC80-4D80-B4AD-132E0CA02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949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A863566-1F60-5333-7340-64AE91821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402A7-5993-4C87-8F2A-ABE78CEC1C5E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163A19C-29E2-DD96-ED71-DCA610A00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831AF7-B222-F6B2-39C2-0CEB563E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3E9A4-CC80-4D80-B4AD-132E0CA02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699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0C2F1F-D84B-C2CB-2AE9-85F67281E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27F276-CF0B-D36F-F2A5-E444790A0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E96ED8-AD53-FAE8-03BF-242CDC670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7E1BE2-4D76-61AA-6F85-31932DB78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402A7-5993-4C87-8F2A-ABE78CEC1C5E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C246BB-46F2-3247-2C89-E308CBD5C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4B8287-CEEF-5280-6CF1-87F3E51F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3E9A4-CC80-4D80-B4AD-132E0CA02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42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463ED-488C-6B3A-470F-51A255D72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02CAA0D-BCC6-D123-AD86-73F128871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3A1E01-A53C-0301-662D-99F30EFEC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EC7ADB-78D5-A3D0-8374-BD2C3268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402A7-5993-4C87-8F2A-ABE78CEC1C5E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F92633-C50D-CBB9-A4DE-B81371CE7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39BD2C-10E4-6AF5-653F-DEA195819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3E9A4-CC80-4D80-B4AD-132E0CA02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250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1C63F6-50B2-E97F-F054-8A253C05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7FF6B7-9928-A0B9-795E-5FE314922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89C0-60EA-3D24-0AB2-D7F976508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402A7-5993-4C87-8F2A-ABE78CEC1C5E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E7AEC5-57B4-A631-62BE-DD2CF8005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1B472-E434-51DF-091C-5CB1D7F65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3E9A4-CC80-4D80-B4AD-132E0CA02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414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A906559-65D9-5D4E-EB4B-B3C36E8111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595276-F305-B2DA-E9A7-E2320B1B1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C2993-0DBB-928E-83C9-D6F993E7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402A7-5993-4C87-8F2A-ABE78CEC1C5E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0E9BC9-22C8-37C8-989F-6FBCB88D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B76D2A-D334-B213-4BA9-F7A00B8D0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3E9A4-CC80-4D80-B4AD-132E0CA02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1481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C400409-AC88-4F99-7994-F37F59C77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D9ACF1-B515-8B2A-C44E-DEE372FC4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7366A0-1A17-9559-D167-FD49129BB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402A7-5993-4C87-8F2A-ABE78CEC1C5E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024B6A-96BA-9C9D-5618-380EAA6B52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895328-9B78-4569-F774-D5E0009FC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3E9A4-CC80-4D80-B4AD-132E0CA02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404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8F59EA-684B-B0DA-102B-E7A30443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 테이블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F75AA4E-5E02-CADD-B29D-DE74B9159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153300"/>
              </p:ext>
            </p:extLst>
          </p:nvPr>
        </p:nvGraphicFramePr>
        <p:xfrm>
          <a:off x="1406357" y="2048486"/>
          <a:ext cx="8876634" cy="3502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439">
                  <a:extLst>
                    <a:ext uri="{9D8B030D-6E8A-4147-A177-3AD203B41FA5}">
                      <a16:colId xmlns:a16="http://schemas.microsoft.com/office/drawing/2014/main" val="521333241"/>
                    </a:ext>
                  </a:extLst>
                </a:gridCol>
                <a:gridCol w="1479439">
                  <a:extLst>
                    <a:ext uri="{9D8B030D-6E8A-4147-A177-3AD203B41FA5}">
                      <a16:colId xmlns:a16="http://schemas.microsoft.com/office/drawing/2014/main" val="2118889387"/>
                    </a:ext>
                  </a:extLst>
                </a:gridCol>
                <a:gridCol w="1479439">
                  <a:extLst>
                    <a:ext uri="{9D8B030D-6E8A-4147-A177-3AD203B41FA5}">
                      <a16:colId xmlns:a16="http://schemas.microsoft.com/office/drawing/2014/main" val="1267736098"/>
                    </a:ext>
                  </a:extLst>
                </a:gridCol>
                <a:gridCol w="1479439">
                  <a:extLst>
                    <a:ext uri="{9D8B030D-6E8A-4147-A177-3AD203B41FA5}">
                      <a16:colId xmlns:a16="http://schemas.microsoft.com/office/drawing/2014/main" val="955841322"/>
                    </a:ext>
                  </a:extLst>
                </a:gridCol>
                <a:gridCol w="1479439">
                  <a:extLst>
                    <a:ext uri="{9D8B030D-6E8A-4147-A177-3AD203B41FA5}">
                      <a16:colId xmlns:a16="http://schemas.microsoft.com/office/drawing/2014/main" val="1093280103"/>
                    </a:ext>
                  </a:extLst>
                </a:gridCol>
                <a:gridCol w="1479439">
                  <a:extLst>
                    <a:ext uri="{9D8B030D-6E8A-4147-A177-3AD203B41FA5}">
                      <a16:colId xmlns:a16="http://schemas.microsoft.com/office/drawing/2014/main" val="2287271484"/>
                    </a:ext>
                  </a:extLst>
                </a:gridCol>
              </a:tblGrid>
              <a:tr h="6927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고객이름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적립금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728613"/>
                  </a:ext>
                </a:extLst>
              </a:tr>
              <a:tr h="702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김현준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73611"/>
                  </a:ext>
                </a:extLst>
              </a:tr>
              <a:tr h="702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정소화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Vip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간호사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625167"/>
                  </a:ext>
                </a:extLst>
              </a:tr>
              <a:tr h="702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원유선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436355"/>
                  </a:ext>
                </a:extLst>
              </a:tr>
              <a:tr h="702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정지영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회사원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학생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990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9537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F30C6-92B9-64EC-6561-563602FFD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47504C-F865-A448-8BDB-60B40487B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74" y="-164264"/>
            <a:ext cx="10515600" cy="1325563"/>
          </a:xfrm>
        </p:spPr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 </a:t>
            </a:r>
            <a:r>
              <a:rPr lang="ko-KR" altLang="en-US" dirty="0"/>
              <a:t>정규화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46DB913-B3E1-BA15-0B82-8FFE19E27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677005"/>
              </p:ext>
            </p:extLst>
          </p:nvPr>
        </p:nvGraphicFramePr>
        <p:xfrm>
          <a:off x="1374272" y="1032961"/>
          <a:ext cx="8876634" cy="4204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439">
                  <a:extLst>
                    <a:ext uri="{9D8B030D-6E8A-4147-A177-3AD203B41FA5}">
                      <a16:colId xmlns:a16="http://schemas.microsoft.com/office/drawing/2014/main" val="521333241"/>
                    </a:ext>
                  </a:extLst>
                </a:gridCol>
                <a:gridCol w="1479439">
                  <a:extLst>
                    <a:ext uri="{9D8B030D-6E8A-4147-A177-3AD203B41FA5}">
                      <a16:colId xmlns:a16="http://schemas.microsoft.com/office/drawing/2014/main" val="2118889387"/>
                    </a:ext>
                  </a:extLst>
                </a:gridCol>
                <a:gridCol w="1479439">
                  <a:extLst>
                    <a:ext uri="{9D8B030D-6E8A-4147-A177-3AD203B41FA5}">
                      <a16:colId xmlns:a16="http://schemas.microsoft.com/office/drawing/2014/main" val="1267736098"/>
                    </a:ext>
                  </a:extLst>
                </a:gridCol>
                <a:gridCol w="1479439">
                  <a:extLst>
                    <a:ext uri="{9D8B030D-6E8A-4147-A177-3AD203B41FA5}">
                      <a16:colId xmlns:a16="http://schemas.microsoft.com/office/drawing/2014/main" val="955841322"/>
                    </a:ext>
                  </a:extLst>
                </a:gridCol>
                <a:gridCol w="1479439">
                  <a:extLst>
                    <a:ext uri="{9D8B030D-6E8A-4147-A177-3AD203B41FA5}">
                      <a16:colId xmlns:a16="http://schemas.microsoft.com/office/drawing/2014/main" val="1093280103"/>
                    </a:ext>
                  </a:extLst>
                </a:gridCol>
                <a:gridCol w="1479439">
                  <a:extLst>
                    <a:ext uri="{9D8B030D-6E8A-4147-A177-3AD203B41FA5}">
                      <a16:colId xmlns:a16="http://schemas.microsoft.com/office/drawing/2014/main" val="2287271484"/>
                    </a:ext>
                  </a:extLst>
                </a:gridCol>
              </a:tblGrid>
              <a:tr h="6927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고객이름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적립금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728613"/>
                  </a:ext>
                </a:extLst>
              </a:tr>
              <a:tr h="702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김현준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73611"/>
                  </a:ext>
                </a:extLst>
              </a:tr>
              <a:tr h="702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정소화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Vip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간호사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625167"/>
                  </a:ext>
                </a:extLst>
              </a:tr>
              <a:tr h="702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원유선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436355"/>
                  </a:ext>
                </a:extLst>
              </a:tr>
              <a:tr h="702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정지영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990327"/>
                  </a:ext>
                </a:extLst>
              </a:tr>
              <a:tr h="702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정지영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17787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944B72E-DA3D-C0F2-DE39-57CFBA813B2D}"/>
              </a:ext>
            </a:extLst>
          </p:cNvPr>
          <p:cNvSpPr txBox="1"/>
          <p:nvPr/>
        </p:nvSpPr>
        <p:spPr>
          <a:xfrm>
            <a:off x="1356868" y="5618214"/>
            <a:ext cx="8162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고객아이디</a:t>
            </a:r>
            <a:r>
              <a:rPr lang="ko-KR" altLang="en-US" dirty="0"/>
              <a:t> </a:t>
            </a:r>
            <a:r>
              <a:rPr lang="en-US" altLang="ko-KR" dirty="0"/>
              <a:t>orange</a:t>
            </a:r>
            <a:r>
              <a:rPr lang="ko-KR" altLang="en-US" dirty="0"/>
              <a:t>의 직업 컬럼이 중복 데이터를 가지고 있음</a:t>
            </a:r>
            <a:r>
              <a:rPr lang="en-US" altLang="ko-KR" dirty="0"/>
              <a:t>(</a:t>
            </a:r>
            <a:r>
              <a:rPr lang="ko-KR" altLang="en-US" dirty="0"/>
              <a:t>학생</a:t>
            </a:r>
            <a:r>
              <a:rPr lang="en-US" altLang="ko-KR" dirty="0"/>
              <a:t>, </a:t>
            </a:r>
            <a:r>
              <a:rPr lang="ko-KR" altLang="en-US" dirty="0"/>
              <a:t>회사원</a:t>
            </a:r>
            <a:r>
              <a:rPr lang="en-US" altLang="ko-KR" dirty="0"/>
              <a:t>) </a:t>
            </a:r>
          </a:p>
          <a:p>
            <a:r>
              <a:rPr lang="ko-KR" altLang="en-US" dirty="0"/>
              <a:t>이 데이터가 하나의 값을 가지도록 테이블을 분해하여 </a:t>
            </a:r>
            <a:r>
              <a:rPr lang="ko-KR" altLang="en-US" dirty="0" err="1"/>
              <a:t>정규화함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4201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8F4B8-8566-F9E7-1168-52EC3E4D1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AC27C-43D3-E58E-D852-D3E57E5C4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9" y="-148222"/>
            <a:ext cx="10515600" cy="1325563"/>
          </a:xfrm>
        </p:spPr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 </a:t>
            </a:r>
            <a:r>
              <a:rPr lang="ko-KR" altLang="en-US" dirty="0"/>
              <a:t>정규화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44A56A-4C07-7332-BD7E-36E3D7A171F4}"/>
              </a:ext>
            </a:extLst>
          </p:cNvPr>
          <p:cNvSpPr txBox="1"/>
          <p:nvPr/>
        </p:nvSpPr>
        <p:spPr>
          <a:xfrm>
            <a:off x="774031" y="5514173"/>
            <a:ext cx="7233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직업은 고객 한 명이 여러 개를 가질 수 있는 다중 값 속성이므로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고객 테이블에서 분리하여 </a:t>
            </a:r>
            <a:r>
              <a:rPr lang="ko-KR" altLang="en-US" dirty="0" err="1"/>
              <a:t>정규화함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D90D820-C0A6-C85D-2D68-1EF491B1BE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288939"/>
              </p:ext>
            </p:extLst>
          </p:nvPr>
        </p:nvGraphicFramePr>
        <p:xfrm>
          <a:off x="508000" y="1167566"/>
          <a:ext cx="5732380" cy="3677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476">
                  <a:extLst>
                    <a:ext uri="{9D8B030D-6E8A-4147-A177-3AD203B41FA5}">
                      <a16:colId xmlns:a16="http://schemas.microsoft.com/office/drawing/2014/main" val="3231724375"/>
                    </a:ext>
                  </a:extLst>
                </a:gridCol>
                <a:gridCol w="1146476">
                  <a:extLst>
                    <a:ext uri="{9D8B030D-6E8A-4147-A177-3AD203B41FA5}">
                      <a16:colId xmlns:a16="http://schemas.microsoft.com/office/drawing/2014/main" val="3203831563"/>
                    </a:ext>
                  </a:extLst>
                </a:gridCol>
                <a:gridCol w="1146476">
                  <a:extLst>
                    <a:ext uri="{9D8B030D-6E8A-4147-A177-3AD203B41FA5}">
                      <a16:colId xmlns:a16="http://schemas.microsoft.com/office/drawing/2014/main" val="1905459701"/>
                    </a:ext>
                  </a:extLst>
                </a:gridCol>
                <a:gridCol w="1146476">
                  <a:extLst>
                    <a:ext uri="{9D8B030D-6E8A-4147-A177-3AD203B41FA5}">
                      <a16:colId xmlns:a16="http://schemas.microsoft.com/office/drawing/2014/main" val="1866248805"/>
                    </a:ext>
                  </a:extLst>
                </a:gridCol>
                <a:gridCol w="1146476">
                  <a:extLst>
                    <a:ext uri="{9D8B030D-6E8A-4147-A177-3AD203B41FA5}">
                      <a16:colId xmlns:a16="http://schemas.microsoft.com/office/drawing/2014/main" val="2471317275"/>
                    </a:ext>
                  </a:extLst>
                </a:gridCol>
              </a:tblGrid>
              <a:tr h="7354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고객이름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적립금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307973"/>
                  </a:ext>
                </a:extLst>
              </a:tr>
              <a:tr h="7354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김현준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256425"/>
                  </a:ext>
                </a:extLst>
              </a:tr>
              <a:tr h="7354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정소화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vip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853504"/>
                  </a:ext>
                </a:extLst>
              </a:tr>
              <a:tr h="7354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원유선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4500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697419"/>
                  </a:ext>
                </a:extLst>
              </a:tr>
              <a:tr h="7354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정지영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586540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2F62E48-6000-4E53-3EDF-B3788CC51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75894"/>
              </p:ext>
            </p:extLst>
          </p:nvPr>
        </p:nvGraphicFramePr>
        <p:xfrm>
          <a:off x="7029117" y="1177342"/>
          <a:ext cx="3994485" cy="3667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117">
                  <a:extLst>
                    <a:ext uri="{9D8B030D-6E8A-4147-A177-3AD203B41FA5}">
                      <a16:colId xmlns:a16="http://schemas.microsoft.com/office/drawing/2014/main" val="870510837"/>
                    </a:ext>
                  </a:extLst>
                </a:gridCol>
                <a:gridCol w="1327684">
                  <a:extLst>
                    <a:ext uri="{9D8B030D-6E8A-4147-A177-3AD203B41FA5}">
                      <a16:colId xmlns:a16="http://schemas.microsoft.com/office/drawing/2014/main" val="641599700"/>
                    </a:ext>
                  </a:extLst>
                </a:gridCol>
                <a:gridCol w="1327684">
                  <a:extLst>
                    <a:ext uri="{9D8B030D-6E8A-4147-A177-3AD203B41FA5}">
                      <a16:colId xmlns:a16="http://schemas.microsoft.com/office/drawing/2014/main" val="1457395400"/>
                    </a:ext>
                  </a:extLst>
                </a:gridCol>
              </a:tblGrid>
              <a:tr h="61122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직업아이디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고객아이디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직업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126231"/>
                  </a:ext>
                </a:extLst>
              </a:tr>
              <a:tr h="6112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Apple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학생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173208"/>
                  </a:ext>
                </a:extLst>
              </a:tr>
              <a:tr h="6112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Banana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간호사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777426"/>
                  </a:ext>
                </a:extLst>
              </a:tr>
              <a:tr h="6112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Carrot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교사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10052"/>
                  </a:ext>
                </a:extLst>
              </a:tr>
              <a:tr h="6112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972425"/>
                  </a:ext>
                </a:extLst>
              </a:tr>
              <a:tr h="6112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orange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학생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864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969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C352A-6CC6-E12D-CE95-4190F70B4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A691F-9234-D865-250A-186819AC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9" y="-148222"/>
            <a:ext cx="10515600" cy="1325563"/>
          </a:xfrm>
        </p:spPr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3 </a:t>
            </a:r>
            <a:r>
              <a:rPr lang="ko-KR" altLang="en-US" dirty="0"/>
              <a:t>정규화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A557AA-A51D-412D-83C9-76BA23161D4D}"/>
              </a:ext>
            </a:extLst>
          </p:cNvPr>
          <p:cNvSpPr txBox="1"/>
          <p:nvPr/>
        </p:nvSpPr>
        <p:spPr>
          <a:xfrm>
            <a:off x="838200" y="1824489"/>
            <a:ext cx="80538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정규화 이후 남아있는 속성들 간에 </a:t>
            </a:r>
            <a:r>
              <a:rPr lang="ko-KR" altLang="en-US" dirty="0" err="1"/>
              <a:t>이행적</a:t>
            </a:r>
            <a:r>
              <a:rPr lang="ko-KR" altLang="en-US" dirty="0"/>
              <a:t> 함수 종속 관계가 존재하지 않아</a:t>
            </a:r>
            <a:endParaRPr lang="en-US" altLang="ko-KR" dirty="0"/>
          </a:p>
          <a:p>
            <a:r>
              <a:rPr lang="ko-KR" altLang="en-US" dirty="0"/>
              <a:t>추가적인 분해가 필요하지 않다고 판단</a:t>
            </a:r>
          </a:p>
        </p:txBody>
      </p:sp>
    </p:spTree>
    <p:extLst>
      <p:ext uri="{BB962C8B-B14F-4D97-AF65-F5344CB8AC3E}">
        <p14:creationId xmlns:p14="http://schemas.microsoft.com/office/powerpoint/2010/main" val="2587408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178</Words>
  <Application>Microsoft Office PowerPoint</Application>
  <PresentationFormat>와이드스크린</PresentationFormat>
  <Paragraphs>119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기본 테이블</vt:lpstr>
      <vt:lpstr>제1 정규화</vt:lpstr>
      <vt:lpstr>제2 정규화</vt:lpstr>
      <vt:lpstr>제3 정규화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kimyejin</dc:creator>
  <cp:lastModifiedBy>kimyejin</cp:lastModifiedBy>
  <cp:revision>15</cp:revision>
  <dcterms:created xsi:type="dcterms:W3CDTF">2025-11-24T06:11:28Z</dcterms:created>
  <dcterms:modified xsi:type="dcterms:W3CDTF">2025-11-24T07:04:12Z</dcterms:modified>
</cp:coreProperties>
</file>